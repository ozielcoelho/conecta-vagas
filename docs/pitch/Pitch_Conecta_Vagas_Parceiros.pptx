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f2b93eb5154490" /><Relationship Type="http://schemas.openxmlformats.org/officeDocument/2006/relationships/extended-properties" Target="/docProps/app.xml" Id="Re3782dffd5d14616" /><Relationship Type="http://schemas.openxmlformats.org/officeDocument/2006/relationships/officeDocument" Target="/ppt/presentation.xml" Id="R55eb557bb53d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0f4abac1464d09"/>
  </p:sldMasterIdLst>
  <p:notesMasterIdLst>
    <p:notesMasterId xmlns:r="http://schemas.openxmlformats.org/officeDocument/2006/relationships" r:id="Rcb203c217eb640fb"/>
  </p:notesMasterIdLst>
  <p:sldIdLst>
    <p:sldId xmlns:r="http://schemas.openxmlformats.org/officeDocument/2006/relationships" id="256" r:id="Rd456dfbbe6bd4dba"/>
    <p:sldId xmlns:r="http://schemas.openxmlformats.org/officeDocument/2006/relationships" id="257" r:id="R3de5aaf6be3a41be"/>
    <p:sldId xmlns:r="http://schemas.openxmlformats.org/officeDocument/2006/relationships" id="258" r:id="R8bb5dc8213994f3a"/>
    <p:sldId xmlns:r="http://schemas.openxmlformats.org/officeDocument/2006/relationships" id="259" r:id="R33ca2d6cda8d4953"/>
    <p:sldId xmlns:r="http://schemas.openxmlformats.org/officeDocument/2006/relationships" id="260" r:id="Rae989b51eb964b58"/>
    <p:sldId xmlns:r="http://schemas.openxmlformats.org/officeDocument/2006/relationships" id="261" r:id="R8b82a2298198498f"/>
    <p:sldId xmlns:r="http://schemas.openxmlformats.org/officeDocument/2006/relationships" id="262" r:id="R2759ab8c39594343"/>
    <p:sldId xmlns:r="http://schemas.openxmlformats.org/officeDocument/2006/relationships" id="263" r:id="R5a21795c6be84feb"/>
    <p:sldId xmlns:r="http://schemas.openxmlformats.org/officeDocument/2006/relationships" id="264" r:id="Rcf8a243fa08443a5"/>
    <p:sldId xmlns:r="http://schemas.openxmlformats.org/officeDocument/2006/relationships" id="265" r:id="R4684f74ace034a26"/>
    <p:sldId xmlns:r="http://schemas.openxmlformats.org/officeDocument/2006/relationships" id="266" r:id="R2f93378ab5974686"/>
    <p:sldId xmlns:r="http://schemas.openxmlformats.org/officeDocument/2006/relationships" id="267" r:id="Rf9ee2bb9a54b47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5c42dc49ff42e9" /><Relationship Type="http://schemas.openxmlformats.org/officeDocument/2006/relationships/slideMaster" Target="/ppt/slideMasters/slideMaster1.xml" Id="Rbc0f4abac1464d09" /><Relationship Type="http://schemas.openxmlformats.org/officeDocument/2006/relationships/notesMaster" Target="/ppt/notesMasters/notesMaster1.xml" Id="Rcb203c217eb640fb" /><Relationship Type="http://schemas.openxmlformats.org/officeDocument/2006/relationships/presProps" Target="/ppt/presProps.xml" Id="Rc39c64cc62f94784" /><Relationship Type="http://schemas.openxmlformats.org/officeDocument/2006/relationships/tableStyles" Target="/ppt/tableStyles.xml" Id="Rd5908fbe9a274a8c" /><Relationship Type="http://schemas.openxmlformats.org/officeDocument/2006/relationships/slide" Target="/ppt/slides/slide1.xml" Id="Rd456dfbbe6bd4dba" /><Relationship Type="http://schemas.openxmlformats.org/officeDocument/2006/relationships/slide" Target="/ppt/slides/slide2.xml" Id="R3de5aaf6be3a41be" /><Relationship Type="http://schemas.openxmlformats.org/officeDocument/2006/relationships/slide" Target="/ppt/slides/slide3.xml" Id="R8bb5dc8213994f3a" /><Relationship Type="http://schemas.openxmlformats.org/officeDocument/2006/relationships/slide" Target="/ppt/slides/slide4.xml" Id="R33ca2d6cda8d4953" /><Relationship Type="http://schemas.openxmlformats.org/officeDocument/2006/relationships/slide" Target="/ppt/slides/slide5.xml" Id="Rae989b51eb964b58" /><Relationship Type="http://schemas.openxmlformats.org/officeDocument/2006/relationships/slide" Target="/ppt/slides/slide6.xml" Id="R8b82a2298198498f" /><Relationship Type="http://schemas.openxmlformats.org/officeDocument/2006/relationships/slide" Target="/ppt/slides/slide7.xml" Id="R2759ab8c39594343" /><Relationship Type="http://schemas.openxmlformats.org/officeDocument/2006/relationships/slide" Target="/ppt/slides/slide8.xml" Id="R5a21795c6be84feb" /><Relationship Type="http://schemas.openxmlformats.org/officeDocument/2006/relationships/slide" Target="/ppt/slides/slide9.xml" Id="Rcf8a243fa08443a5" /><Relationship Type="http://schemas.openxmlformats.org/officeDocument/2006/relationships/slide" Target="/ppt/slides/slide10.xml" Id="R4684f74ace034a26" /><Relationship Type="http://schemas.openxmlformats.org/officeDocument/2006/relationships/slide" Target="/ppt/slides/slide11.xml" Id="R2f93378ab5974686" /><Relationship Type="http://schemas.openxmlformats.org/officeDocument/2006/relationships/slide" Target="/ppt/slides/slide12.xml" Id="Rf9ee2bb9a54b47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a025d03c1248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bfcf52ffb43b5" /><Relationship Type="http://schemas.openxmlformats.org/officeDocument/2006/relationships/notesMaster" Target="/ppt/notesMasters/notesMaster1.xml" Id="R85acceb8e19f41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7435a2fb3b40c6" /><Relationship Type="http://schemas.openxmlformats.org/officeDocument/2006/relationships/notesMaster" Target="/ppt/notesMasters/notesMaster1.xml" Id="Rd22689b0f43046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4016de59394afa" /><Relationship Type="http://schemas.openxmlformats.org/officeDocument/2006/relationships/notesMaster" Target="/ppt/notesMasters/notesMaster1.xml" Id="R948e685cd91741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9884fbb864345" /><Relationship Type="http://schemas.openxmlformats.org/officeDocument/2006/relationships/notesMaster" Target="/ppt/notesMasters/notesMaster1.xml" Id="R6f0b7c626488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f3fa87ea7c4373" /><Relationship Type="http://schemas.openxmlformats.org/officeDocument/2006/relationships/notesMaster" Target="/ppt/notesMasters/notesMaster1.xml" Id="Re7a9aa0a7f2d4e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deedbea054557" /><Relationship Type="http://schemas.openxmlformats.org/officeDocument/2006/relationships/notesMaster" Target="/ppt/notesMasters/notesMaster1.xml" Id="R886f626e929f44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9359c914e3451b" /><Relationship Type="http://schemas.openxmlformats.org/officeDocument/2006/relationships/notesMaster" Target="/ppt/notesMasters/notesMaster1.xml" Id="R2fa4396a7f384b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1ca59cb7734ac7" /><Relationship Type="http://schemas.openxmlformats.org/officeDocument/2006/relationships/notesMaster" Target="/ppt/notesMasters/notesMaster1.xml" Id="R9eb9d3c9f37346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a4f20c0f73422f" /><Relationship Type="http://schemas.openxmlformats.org/officeDocument/2006/relationships/notesMaster" Target="/ppt/notesMasters/notesMaster1.xml" Id="R13fbb9656cfa41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3dc0e8fa994ca3" /><Relationship Type="http://schemas.openxmlformats.org/officeDocument/2006/relationships/notesMaster" Target="/ppt/notesMasters/notesMaster1.xml" Id="R9fc0988bf17d45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43a138813a4d94" /><Relationship Type="http://schemas.openxmlformats.org/officeDocument/2006/relationships/notesMaster" Target="/ppt/notesMasters/notesMaster1.xml" Id="R239311d41f9f45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a5e8666c58450f" /><Relationship Type="http://schemas.openxmlformats.org/officeDocument/2006/relationships/notesMaster" Target="/ppt/notesMasters/notesMaster1.xml" Id="R3d0a1d34701e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Conecta Vagas como uma plataforma que aproxima estudantes e empresas, reduzindo o esforço para encontrar oportunidades compatíveis.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Falar da dor em termos de tempo, clareza e acompanhamento. Dado: IBGE, PNAD Contínua 2025, taxa anual de desocupação de 12,0% para pessoas de 18 a 24 anos. Fonte: https://agenciadenoticias.ibge.gov.br/media/com_mediaibge/arquivos/62b517a8259f386db6e8cac4659c7768.pdf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o print da página inicial para apresentar o produto antes de entrar nos perfis de cada público. Fonte visual: captura fornecida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a empresa consegue publicar uma vaga com as informações que alimentam a recomendação. O print mostra uma publicação concluída.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Demonstrar o ponto de vista do estudante: recomendação, explicação do match e confirmação da candidatura.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o ganho para o RH: comparar candidatos com os mesmos critérios e avançar no funil sem planilhas paralelas.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números são os que aparecem no painel demonstrativo capturado pela equipe. Apresentar como exemplo de uso do dashboard, não como resultado de mercado.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este slide como guia da demo ao vivo. O vídeo de backup deve seguir exatamente esta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sem código: habilidades, curso e disponibilidade são sinais fáceis de entender para o público empresarial.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gráfico e o CSV mostram que o produto já sustenta uma conversa de acompanhamento, e não apenas uma tela de cadastro. Os números do seed demonstrativo são dados de teste.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pedido final para empresas parceiras. Reforçar que o esforço inicial é pequeno e que o piloto gera aprendizado antes de qualquer expansão.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retomando o pedido de parceria. O endereço exibido é o ambiente publicado do produto.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cfa6a9a9a40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a86aacc4841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830ef5efa49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14bdd2d404b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1ff8666ad44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154ede1fa4a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5ADF5-6836-4971-A423-BFF09C020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285F91-A386-4773-8C99-2F20D2F06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6B7E68-FBAB-415B-B8C3-61DEA0A890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C4DC04-F0F9-4857-BD1E-373B36841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FD8F2C-80BF-4B11-808B-F0B24E4C5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EE6A21-330F-497A-8B0A-991D777F2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D51344-4C0B-43EF-AC00-5834ACFC6B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7D629E-0655-475A-9721-AEC817A81F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5DDE56-EECF-4E08-A380-47E03236C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322130-2494-435B-97DA-910CBD914E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ec7e7e76f04660" /><Relationship Type="http://schemas.openxmlformats.org/officeDocument/2006/relationships/slideLayout" Target="/ppt/slideLayouts/slideLayout1.xml" Id="Rcf5ee83e1aa24a7b" /><Relationship Type="http://schemas.openxmlformats.org/officeDocument/2006/relationships/slideLayout" Target="/ppt/slideLayouts/slideLayout2.xml" Id="R6d0e8e71bae84d43" /><Relationship Type="http://schemas.openxmlformats.org/officeDocument/2006/relationships/slideLayout" Target="/ppt/slideLayouts/slideLayout3.xml" Id="R8c246aaef6fd43ea" /><Relationship Type="http://schemas.openxmlformats.org/officeDocument/2006/relationships/slideLayout" Target="/ppt/slideLayouts/slideLayout4.xml" Id="Rf05b0745de3b4fe0" /><Relationship Type="http://schemas.openxmlformats.org/officeDocument/2006/relationships/slideLayout" Target="/ppt/slideLayouts/slideLayout5.xml" Id="R9b05dec6b049469d" /><Relationship Type="http://schemas.openxmlformats.org/officeDocument/2006/relationships/slideLayout" Target="/ppt/slideLayouts/slideLayout6.xml" Id="R74083f8449e243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5ee83e1aa24a7b"/>
    <p:sldLayoutId xmlns:r="http://schemas.openxmlformats.org/officeDocument/2006/relationships" id="2147483650" r:id="R6d0e8e71bae84d43"/>
    <p:sldLayoutId xmlns:r="http://schemas.openxmlformats.org/officeDocument/2006/relationships" id="2147483651" r:id="R8c246aaef6fd43ea"/>
    <p:sldLayoutId xmlns:r="http://schemas.openxmlformats.org/officeDocument/2006/relationships" id="2147483652" r:id="Rf05b0745de3b4fe0"/>
    <p:sldLayoutId xmlns:r="http://schemas.openxmlformats.org/officeDocument/2006/relationships" id="2147483653" r:id="R9b05dec6b049469d"/>
    <p:sldLayoutId xmlns:r="http://schemas.openxmlformats.org/officeDocument/2006/relationships" id="2147483654" r:id="R74083f8449e243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479bc098b45fe" /><Relationship Type="http://schemas.openxmlformats.org/officeDocument/2006/relationships/notesSlide" Target="/ppt/notesSlides/notesSlide1.xml" Id="Ra75cb5acc3c644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c1c3b65644afa" /><Relationship Type="http://schemas.openxmlformats.org/officeDocument/2006/relationships/notesSlide" Target="/ppt/notesSlides/notesSlide2.xml" Id="Rd5618802f3da43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524bebbb024511" /><Relationship Type="http://schemas.openxmlformats.org/officeDocument/2006/relationships/image" Target="/ppt/media/image.png" Id="R937deeb01800415a" /><Relationship Type="http://schemas.openxmlformats.org/officeDocument/2006/relationships/notesSlide" Target="/ppt/notesSlides/notesSlide3.xml" Id="Rc383f7388bc140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25a7fee764a2d" /><Relationship Type="http://schemas.openxmlformats.org/officeDocument/2006/relationships/image" Target="/ppt/media/image2.png" Id="Rc4ca9db4e5cc40b5" /><Relationship Type="http://schemas.openxmlformats.org/officeDocument/2006/relationships/notesSlide" Target="/ppt/notesSlides/notesSlide4.xml" Id="R82111cda8d63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a23b98f0b433d" /><Relationship Type="http://schemas.openxmlformats.org/officeDocument/2006/relationships/image" Target="/ppt/media/image3.png" Id="R4010cebe42124be0" /><Relationship Type="http://schemas.openxmlformats.org/officeDocument/2006/relationships/notesSlide" Target="/ppt/notesSlides/notesSlide5.xml" Id="Rb1a7edbd3f7944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090d289024ebd" /><Relationship Type="http://schemas.openxmlformats.org/officeDocument/2006/relationships/image" Target="/ppt/media/image4.png" Id="R93a99412ccfe4a63" /><Relationship Type="http://schemas.openxmlformats.org/officeDocument/2006/relationships/notesSlide" Target="/ppt/notesSlides/notesSlide6.xml" Id="R63e61ffd06734b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431cb2f7b443e" /><Relationship Type="http://schemas.openxmlformats.org/officeDocument/2006/relationships/image" Target="/ppt/media/image5.png" Id="R1ae4a2fab88943cf" /><Relationship Type="http://schemas.openxmlformats.org/officeDocument/2006/relationships/notesSlide" Target="/ppt/notesSlides/notesSlide7.xml" Id="R6dcaec3e01534c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5c1961ac74e7b" /><Relationship Type="http://schemas.openxmlformats.org/officeDocument/2006/relationships/notesSlide" Target="/ppt/notesSlides/notesSlide8.xml" Id="R73846e47f86a4d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564d790b644bd" /><Relationship Type="http://schemas.openxmlformats.org/officeDocument/2006/relationships/notesSlide" Target="/ppt/notesSlides/notesSlide9.xml" Id="R6e05c6c163f343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dd40276194671" /><Relationship Type="http://schemas.openxmlformats.org/officeDocument/2006/relationships/image" Target="/ppt/media/image6.png" Id="Rf9c54e4f1d214b3d" /><Relationship Type="http://schemas.openxmlformats.org/officeDocument/2006/relationships/image" Target="/ppt/media/image7.png" Id="Rccf0c7cffcf44465" /><Relationship Type="http://schemas.openxmlformats.org/officeDocument/2006/relationships/notesSlide" Target="/ppt/notesSlides/notesSlide10.xml" Id="R726402579a2448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67480383646f1" /><Relationship Type="http://schemas.openxmlformats.org/officeDocument/2006/relationships/notesSlide" Target="/ppt/notesSlides/notesSlide11.xml" Id="Rf8a32a64b05444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4e76c10da4a79" /><Relationship Type="http://schemas.openxmlformats.org/officeDocument/2006/relationships/image" Target="/ppt/media/image.jpeg" Id="R2f42c05c608a41c5" /><Relationship Type="http://schemas.openxmlformats.org/officeDocument/2006/relationships/notesSlide" Target="/ppt/notesSlides/notesSlide12.xml" Id="R3fb27f30c28748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25385-DE97-4CE1-BCE6-4CBA10DD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3D7D4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2DEE1-75CB-4DA2-88A9-6FF2744F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Conectar talento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917B1-67BE-4782-8264-CD554481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D7E9F7"/>
                </a:solidFill>
                <a:latin typeface="Arial"/>
                <a:ea typeface="Arial"/>
                <a:cs typeface="Arial"/>
              </a:rPr>
              <a:t>Uma plataforma para estudantes, empresas e instituições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9A277-EC67-40D4-B7CE-2ABB45E6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7E9F7"/>
                </a:solidFill>
                <a:latin typeface="Arial"/>
                <a:ea typeface="Arial"/>
                <a:cs typeface="Arial"/>
              </a:rPr>
              <a:t>Amanda Greice Tenorio de Souza  ·  Emanuel da Silva Bastos  ·  Felipe Eduardo Tenorio de Souza  ·  Gabriel Takashi Gadelha Yamashita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2B13C-4A49-47C7-A7A1-70219090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7E9F7"/>
                </a:solidFill>
                <a:latin typeface="Arial"/>
                <a:ea typeface="Arial"/>
                <a:cs typeface="Arial"/>
              </a:rPr>
              <a:t>Kauã Caçula da Silva  ·  Oziel Coelho Antunes Junior  ·  Wesley da Silva Batista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52675-D866-47C9-A04D-800FC59C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476A"/>
          </a:solidFill>
          <a:ln xmlns:a="http://schemas.openxmlformats.org/drawingml/2006/main" w="9525">
            <a:solidFill>
              <a:srgbClr val="159A9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BF154-054B-4DA0-820F-C39835B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estudante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86635-E101-4855-8FA5-B59D2B49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33"/>
          </a:bodyPr>
          <a:lstStyle xmlns:a="http://schemas.openxmlformats.org/drawingml/2006/main">
            <a:def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defPPr>
            <a:lvl1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1pPr>
            <a:lvl2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2pPr>
            <a:lvl3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3pPr>
            <a:lvl4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4pPr>
            <a:lvl5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5pPr>
            <a:lvl6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6pPr>
            <a:lvl7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7pPr>
            <a:lvl8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8pPr>
            <a:lvl9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000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73D7D4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F15D9-DA3D-4A0A-8709-C171603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empresa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3554D-6127-4A9C-91A5-486C50DA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7E9F7"/>
                </a:solidFill>
                <a:latin typeface="Arial"/>
                <a:ea typeface="Arial"/>
                <a:cs typeface="Arial"/>
              </a:rPr>
              <a:t>Pitch para empresas parceiras · Manaus · 2026</a:t>
            </a:r>
          </a:p>
        </p:txBody>
      </p:sp>
    </p:spTree>
    <p:extLst>
      <p:ext uri="{BB962C8B-B14F-4D97-AF65-F5344CB8AC3E}">
        <p14:creationId xmlns:p14="http://schemas.microsoft.com/office/powerpoint/2010/main" val="796057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6A939-38C4-49F1-9E70-2B686B1F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DCE70-2F48-4F68-B59D-00ABDB13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O início da carreira ainda tem atrito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089D3-CF39-4584-8F6A-3CA0AF53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52C71-30FB-4A5C-8FB1-0AF3752E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902"/>
          </a:bodyPr>
          <a:lstStyle xmlns:a="http://schemas.openxmlformats.org/drawingml/2006/main">
            <a:def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O estudante procura uma primeira oportunidade. A empresa procura alguém que realmente combine com a vaga.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FE7B6-BC9C-4624-AAE5-E6C16098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2190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19BCB-20E3-41C3-979C-853C1D14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527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Estudante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EFBB3-9082-4ACE-B2AB-8416EDFE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24"/>
          </a:bodyPr>
          <a:lstStyle xmlns:a="http://schemas.openxmlformats.org/drawingml/2006/main">
            <a:def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Perfil espalhado</a:t>
            </a:r>
          </a:p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Pouca clareza sobre quais vagas fazem sentido</a:t>
            </a:r>
          </a:p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Dificuldade para acompanhar candidaturas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B4764-25DE-4ED1-BE1A-52987FF1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76500"/>
            <a:ext cx="2190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E6F7F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53A50-8C99-4CA9-9A1B-986C5FE1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527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Empresa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7E08B-EB1D-48A1-886D-B24F4819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Triagem manual</a:t>
            </a:r>
          </a:p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Muitos perfis para comparar</a:t>
            </a:r>
          </a:p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Tempo até encontrar candidatos adequados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EBE6F-EA0B-49D1-80B8-52599BE2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76500"/>
            <a:ext cx="2190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3D3"/>
          </a:solidFill>
          <a:ln xmlns:a="http://schemas.openxmlformats.org/drawingml/2006/main" w="9525">
            <a:solidFill>
              <a:srgbClr val="FFF3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A7575-AAA6-40D3-BC33-A89C80E3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527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Instituição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53F5A-ECB4-4E97-8204-DB8FC508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24"/>
          </a:bodyPr>
          <a:lstStyle xmlns:a="http://schemas.openxmlformats.org/drawingml/2006/main">
            <a:def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Visão fragmentada</a:t>
            </a:r>
          </a:p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Poucos indicadores sobre o funil</a:t>
            </a:r>
          </a:p>
          <a:p xmlns:a="http://schemas.openxmlformats.org/drawingml/2006/main">
            <a:pPr algn="l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Dificuldade para acompanhar 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99D50-C751-407A-884C-F2E6BE39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238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304D"/>
          </a:solidFill>
          <a:ln xmlns:a="http://schemas.openxmlformats.org/drawingml/2006/main" w="9525">
            <a:solidFill>
              <a:srgbClr val="1230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61216-7917-45E5-A383-5049CA26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01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12,0%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4A743-CEF3-4AB6-B810-038FE6B3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>
            <a:def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taxa anual de desocupação</a:t>
            </a:r>
          </a:p>
          <a:p xmlns:a="http://schemas.openxmlformats.org/drawingml/2006/main">
            <a:pPr algn="l">
              <a:defRPr sz="150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entre jovens de 18 a 24 anos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A87FE-3F30-46B1-80E5-5252DF6C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15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Fonte: IBGE, PNAD Contínua,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8215E-8D51-44D5-807C-81401AD8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28"/>
          </a:bodyPr>
          <a:lstStyle xmlns:a="http://schemas.openxmlformats.org/drawingml/2006/main">
            <a:def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E62B8"/>
                </a:solidFill>
                <a:latin typeface="Arial"/>
                <a:ea typeface="Arial"/>
                <a:cs typeface="Arial"/>
              </a:rPr>
              <a:t>A oportunidade certa precisa aparecer no momento certo e com contexto suficiente para uma decisão.</a:t>
            </a:r>
          </a:p>
        </p:txBody>
      </p:sp>
    </p:spTree>
    <p:extLst>
      <p:ext uri="{BB962C8B-B14F-4D97-AF65-F5344CB8AC3E}">
        <p14:creationId xmlns:p14="http://schemas.microsoft.com/office/powerpoint/2010/main" val="383346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E2308-5B4A-4960-8248-1FB009EA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46C27-BB38-4D0C-A381-944A30B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Uma jornada única para a empregabilidade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90B8A-75C3-4E9C-A40C-C633737B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E7767-A6D9-4F55-8C2B-49D1DD0E4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deeb01800415a"/>
          <a:stretch xmlns:a="http://schemas.openxmlformats.org/drawingml/2006/main"/>
        </p:blipFill>
        <p:spPr>
          <a:xfrm xmlns:a="http://schemas.openxmlformats.org/drawingml/2006/main">
            <a:off x="523875" y="1689379"/>
            <a:ext cx="6762750" cy="347924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37796-6C9C-4F5C-9139-51DEE0C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11"/>
          </a:bodyPr>
          <a:lstStyle xmlns:a="http://schemas.openxmlformats.org/drawingml/2006/main">
            <a:def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O Conecta Vagas reúne a jornada em um só lugar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91B80-C206-4698-940A-C8E2B090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524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51"/>
          </a:bodyPr>
          <a:lstStyle xmlns:a="http://schemas.openxmlformats.org/drawingml/2006/main">
            <a:def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• perfil do estudante</a:t>
            </a:r>
          </a:p>
          <a:p xmlns:a="http://schemas.openxmlformats.org/drawingml/2006/main">
            <a: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• vagas publicadas por empresas</a:t>
            </a:r>
          </a:p>
          <a:p xmlns:a="http://schemas.openxmlformats.org/drawingml/2006/main">
            <a: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• recomendação por compatibilidade</a:t>
            </a:r>
          </a:p>
          <a:p xmlns:a="http://schemas.openxmlformats.org/drawingml/2006/main">
            <a: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• acompanhamento das candidaturas</a:t>
            </a:r>
          </a:p>
          <a:p xmlns:a="http://schemas.openxmlformats.org/drawingml/2006/main">
            <a: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• indicadores para a coordenação</a:t>
            </a:r>
          </a:p>
        </p:txBody>
      </p:sp>
    </p:spTree>
    <p:extLst>
      <p:ext uri="{BB962C8B-B14F-4D97-AF65-F5344CB8AC3E}">
        <p14:creationId xmlns:p14="http://schemas.microsoft.com/office/powerpoint/2010/main" val="1357892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7B37A-1226-4FFF-BAB2-9B56ECA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VISÃO DA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74187-2C3F-4EFD-BE7D-9CE04843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A empresa publica e acompanha em menos etapas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E93D4-D1CA-4670-A622-1E60DE28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189BD-1058-4957-9191-E5809C603F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a9db4e5cc40b5"/>
          <a:stretch xmlns:a="http://schemas.openxmlformats.org/drawingml/2006/main"/>
        </p:blipFill>
        <p:spPr>
          <a:xfrm xmlns:a="http://schemas.openxmlformats.org/drawingml/2006/main">
            <a:off x="523875" y="1581199"/>
            <a:ext cx="6858000" cy="3981352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32EFC-FC61-49EB-83DE-41111F23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392"/>
          </a:bodyPr>
          <a:lstStyle xmlns:a="http://schemas.openxmlformats.org/drawingml/2006/main">
            <a:def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Publicar uma oportunidade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D989A-DB4A-47E7-A172-A42FB303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>
            <a:def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empresa informa o que realmente importa para a vaga: modelo de trabalho, curso, disponibilidade, local e habilidades.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E1BD8-EFDC-4E29-A4C1-2619FE0B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E6F7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EC236-37AF-4815-96B7-C1D9A9EE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100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Vaga publicada com sucesso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22340-184A-47E2-B607-664CE9E9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911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77"/>
          </a:bodyPr>
          <a:lstStyle xmlns:a="http://schemas.openxmlformats.org/drawingml/2006/main">
            <a:def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Menos campos dispersos. Mais clareza para encontrar o perfil certo.</a:t>
            </a:r>
          </a:p>
        </p:txBody>
      </p:sp>
    </p:spTree>
    <p:extLst>
      <p:ext uri="{BB962C8B-B14F-4D97-AF65-F5344CB8AC3E}">
        <p14:creationId xmlns:p14="http://schemas.microsoft.com/office/powerpoint/2010/main" val="671875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3A017-F67C-48D0-A8C8-D15B684F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VISÃO DO ESTUDANTE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31C8E-251E-40E4-99C1-FBF5350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O estudante enxerga o que combina com seu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82125-CEFF-42ED-9D1B-4D015423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11607-B0B6-4298-ACB8-EBDA7DC25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0cebe42124be0"/>
          <a:stretch xmlns:a="http://schemas.openxmlformats.org/drawingml/2006/main"/>
        </p:blipFill>
        <p:spPr>
          <a:xfrm xmlns:a="http://schemas.openxmlformats.org/drawingml/2006/main">
            <a:off x="428625" y="1448175"/>
            <a:ext cx="7524750" cy="43902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2A0AB-DFE2-44F8-AA30-5DC678BA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14"/>
          </a:bodyPr>
          <a:lstStyle xmlns:a="http://schemas.openxmlformats.org/drawingml/2006/main">
            <a:def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Compatibilidade visível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7B177-2300-4EE2-9605-523A139C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 estudante entende por que uma vaga apareceu e pode se candidatar com um clique.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AA9B7-B51D-4C5A-A48B-BD8F6841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30003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E6F7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443C4-BA85-4A88-9BFC-EBA4400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62450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80% de compatibilidade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6F6AD-C94E-4B47-9FC5-25902347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911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>
            <a:def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A candidatura fica registrada para acompanhamento.</a:t>
            </a:r>
          </a:p>
        </p:txBody>
      </p:sp>
    </p:spTree>
    <p:extLst>
      <p:ext uri="{BB962C8B-B14F-4D97-AF65-F5344CB8AC3E}">
        <p14:creationId xmlns:p14="http://schemas.microsoft.com/office/powerpoint/2010/main" val="1292814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A63DA-3612-4037-BE8F-DF96CF3E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VISÃO DA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9DBD4-5E30-4833-B5F2-2ADCDE02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A empresa recebe candidatos ordenados por compatibilidade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9F4DD-C915-4EC4-A890-53E37C02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7A2D8-83C2-4393-9D1B-7E2F3466E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99412ccfe4a63"/>
          <a:stretch xmlns:a="http://schemas.openxmlformats.org/drawingml/2006/main"/>
        </p:blipFill>
        <p:spPr>
          <a:xfrm xmlns:a="http://schemas.openxmlformats.org/drawingml/2006/main">
            <a:off x="428625" y="1395998"/>
            <a:ext cx="7620000" cy="4494629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3DA54-FF48-4578-B922-0A0C43B5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21"/>
          </a:bodyPr>
          <a:lstStyle xmlns:a="http://schemas.openxmlformats.org/drawingml/2006/main">
            <a:def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Triagem mais objetiva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1770C-B240-4087-9133-C9BEAC08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equipe vê curso, disponibilidade, habilidades, status e score no mesmo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9E0A-529D-4E04-85AB-F50F2124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304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FFA4C-382A-437C-ABBC-6A02D34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1007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E62B8"/>
                </a:solidFill>
                <a:latin typeface="Arial"/>
                <a:ea typeface="Arial"/>
                <a:cs typeface="Arial"/>
              </a:rPr>
              <a:t>Ana Demonstração · 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40359-D325-4EA3-A183-FF8301DB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66"/>
          </a:bodyPr>
          <a:lstStyle xmlns:a="http://schemas.openxmlformats.org/drawingml/2006/main">
            <a:def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A empresa pode colocar em análise ou recusar sem perder o histórico.</a:t>
            </a:r>
          </a:p>
        </p:txBody>
      </p:sp>
    </p:spTree>
    <p:extLst>
      <p:ext uri="{BB962C8B-B14F-4D97-AF65-F5344CB8AC3E}">
        <p14:creationId xmlns:p14="http://schemas.microsoft.com/office/powerpoint/2010/main" val="133813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B4684-9031-4A2B-9477-86A61C59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VISÃO DA COORDENAÇÃO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F59F7-E7A4-4E5E-823C-CB944ABF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A coordenação acompanha o funil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005F8-A0BE-49EE-A5EF-965B4178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4863B-257B-43A0-B9E4-8AE7FAA055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4a2fab88943cf"/>
          <a:stretch xmlns:a="http://schemas.openxmlformats.org/drawingml/2006/main"/>
        </p:blipFill>
        <p:spPr>
          <a:xfrm xmlns:a="http://schemas.openxmlformats.org/drawingml/2006/main">
            <a:off x="428625" y="1754049"/>
            <a:ext cx="7239000" cy="3349902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D3865-9FB4-40EE-9DFA-AC3B3AED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50"/>
          </a:bodyPr>
          <a:lstStyle xmlns:a="http://schemas.openxmlformats.org/drawingml/2006/main">
            <a:def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Indicadores para decidir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F2DBE-1A50-41B6-8C68-18B2683F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04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No recorte demonstrativo, o painel mostra 8 vagas, 26 candidaturas, 3 empresas ativas e taxa de aprovação de 23%.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80458-B09E-4F97-9B0E-BE5EECE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24375"/>
            <a:ext cx="2476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04D"/>
          </a:solidFill>
          <a:ln xmlns:a="http://schemas.openxmlformats.org/drawingml/2006/main" w="9525">
            <a:solidFill>
              <a:srgbClr val="1230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F02ED-192F-425A-B72E-FF367860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60057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Exportação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43AAE-23A6-4FDE-A74B-17865B63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53"/>
          </a:bodyPr>
          <a:lstStyle xmlns:a="http://schemas.openxmlformats.org/drawingml/2006/main">
            <a:def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Dados prontos para acompanhamento e prestação de contas.</a:t>
            </a:r>
          </a:p>
        </p:txBody>
      </p:sp>
    </p:spTree>
    <p:extLst>
      <p:ext uri="{BB962C8B-B14F-4D97-AF65-F5344CB8AC3E}">
        <p14:creationId xmlns:p14="http://schemas.microsoft.com/office/powerpoint/2010/main" val="171230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41127-2C00-46AE-8140-2B9062BC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DEMO AO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F50C-A21D-485D-9EC0-0F22CB80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A demonstração percorre o caminho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6A054-E4F4-457D-A952-2E8889F5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168DB-039A-4B44-86BF-688BB4D4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04D"/>
          </a:solidFill>
          <a:ln xmlns:a="http://schemas.openxmlformats.org/drawingml/2006/main" w="9525">
            <a:solidFill>
              <a:srgbClr val="1230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74A8B-8C18-4E47-B784-63C329B3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57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5976"/>
          </a:bodyPr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CB102-C77F-4236-B548-B9ACE013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385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Empresa</a:t>
            </a:r>
          </a:p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publica a vaga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3D84E-1E53-40F3-B830-1D25B90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765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>
            <a:def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7ECA5-D3B1-4AB0-9936-9EC20B4A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04D"/>
          </a:solidFill>
          <a:ln xmlns:a="http://schemas.openxmlformats.org/drawingml/2006/main" w="9525">
            <a:solidFill>
              <a:srgbClr val="1230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19B11-BBBA-48DC-A43E-B22ED25B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5976"/>
          </a:bodyPr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89AD8-082C-42EA-9061-E511DF6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385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93"/>
          </a:bodyPr>
          <a:lstStyle xmlns:a="http://schemas.openxmlformats.org/drawingml/2006/main">
            <a:def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Estudante</a:t>
            </a:r>
          </a:p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vê a recomendação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6DAD5-DF1B-4D31-A127-C4098F3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>
            <a:def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69660-20A2-4C2D-9596-57BD8F26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59A9C"/>
          </a:solidFill>
          <a:ln xmlns:a="http://schemas.openxmlformats.org/drawingml/2006/main" w="9525">
            <a:solidFill>
              <a:srgbClr val="159A9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1F24-62A5-4277-908B-420691E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457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5976"/>
          </a:bodyPr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D7E45-8A53-4E44-BCF4-9894543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385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Estudante</a:t>
            </a:r>
          </a:p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se candidata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3DE58-256C-4861-9FB7-19C5BEAA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765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>
            <a:def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9DC14-945E-473B-B42E-12AA27EB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04D"/>
          </a:solidFill>
          <a:ln xmlns:a="http://schemas.openxmlformats.org/drawingml/2006/main" w="9525">
            <a:solidFill>
              <a:srgbClr val="12304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7835C-A0A0-4927-A41C-9A4320F3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5976"/>
          </a:bodyPr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CC049-B81D-4E21-84AB-32CBC335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Empresa</a:t>
            </a:r>
          </a:p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analisa o candidato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1E8B6-1522-4C11-8337-50C4FACE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>
            <a:def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5F828-60E5-40C4-85A2-8A5A8058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04D"/>
          </a:solidFill>
          <a:ln xmlns:a="http://schemas.openxmlformats.org/drawingml/2006/main" w="9525">
            <a:solidFill>
              <a:srgbClr val="12304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5328B-CC5E-46F5-9ACA-5BADCE5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457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5976"/>
          </a:bodyPr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92766-D57C-4FC9-86FD-CE30C67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2385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Coordenação</a:t>
            </a:r>
          </a:p>
          <a:p xmlns:a="http://schemas.openxmlformats.org/drawingml/2006/main">
            <a:pPr algn="ctr">
              <a:defRPr sz="157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exporta os dados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D338D-DA0E-49DB-99CB-B17AF435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E62B8"/>
                </a:solidFill>
                <a:latin typeface="Arial"/>
                <a:ea typeface="Arial"/>
                <a:cs typeface="Arial"/>
              </a:rPr>
              <a:t>Plano B: vídeo curto gravado com o mesmo fluxo, caso a internet falhe.</a:t>
            </a:r>
          </a:p>
        </p:txBody>
      </p:sp>
    </p:spTree>
    <p:extLst>
      <p:ext uri="{BB962C8B-B14F-4D97-AF65-F5344CB8AC3E}">
        <p14:creationId xmlns:p14="http://schemas.microsoft.com/office/powerpoint/2010/main" val="13716164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226CC-FB6C-4EFE-B6B2-CEB60C89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COMO O MATCH FUNCIONA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BBFA7-9CA8-4D79-A801-9E191C63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A compatibilidade combina sinais do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CE1D1-C33C-4A45-9750-085B158E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0CD80-30D5-4FEE-852A-23109019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15"/>
          </a:bodyPr>
          <a:lstStyle xmlns:a="http://schemas.openxmlformats.org/drawingml/2006/main">
            <a:def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O sistema compara informações da vaga com o perfil do estudante e transforma a comparação em um score simples.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FE1C-B0A1-49BB-960E-E23916D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>
            <a:def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62B8"/>
                </a:solidFill>
                <a:latin typeface="Arial"/>
                <a:ea typeface="Arial"/>
                <a:cs typeface="Arial"/>
              </a:rPr>
              <a:t>Habilidades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2B472-B391-4565-B320-33C70D71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>
            <a:def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Curso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E9558-C4AD-48D9-B183-9D07261E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>
            <a:def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F26B7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6B72"/>
                </a:solidFill>
                <a:latin typeface="Arial"/>
                <a:ea typeface="Arial"/>
                <a:cs typeface="Arial"/>
              </a:rPr>
              <a:t>Disponibilidade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3D8D7-5ADB-449B-97AF-34522515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66950"/>
            <a:ext cx="533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7DFF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F7804-D546-415A-A722-128A2B3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o que a vaga pede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AC779-FC2F-4699-B849-93C37F3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19450"/>
            <a:ext cx="533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BEE8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6863A-F937-4F68-8A82-BA86074A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o que o estudante estuda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0BE2F-8CC5-4BAA-A6CC-02C08BDE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71950"/>
            <a:ext cx="533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3D3"/>
          </a:solidFill>
          <a:ln xmlns:a="http://schemas.openxmlformats.org/drawingml/2006/main" w="9525">
            <a:solidFill>
              <a:srgbClr val="F1D48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E1CDA-BE74-4DEA-BC9D-0E2530CC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86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quando o estudante pode atuar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8445F-BFD3-412F-8E6E-8E6F233C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2304D"/>
          </a:solidFill>
          <a:ln xmlns:a="http://schemas.openxmlformats.org/drawingml/2006/main" w="9525">
            <a:solidFill>
              <a:srgbClr val="1230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A04C2-B944-4C97-AB2E-02D59335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48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42"/>
          </a:bodyPr>
          <a:lstStyle xmlns:a="http://schemas.openxmlformats.org/drawingml/2006/main">
            <a:def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compatibilidade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5DAC8-98D3-475C-AED8-A9F23025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86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3D7D4"/>
                </a:solidFill>
                <a:latin typeface="Arial"/>
                <a:ea typeface="Arial"/>
                <a:cs typeface="Arial"/>
              </a:rPr>
              <a:t>ex.: 80%</a:t>
            </a:r>
          </a:p>
        </p:txBody>
      </p:sp>
    </p:spTree>
    <p:extLst>
      <p:ext uri="{BB962C8B-B14F-4D97-AF65-F5344CB8AC3E}">
        <p14:creationId xmlns:p14="http://schemas.microsoft.com/office/powerpoint/2010/main" val="10247666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34ED1-2276-448D-AA8C-357BEFEB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PROVA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86CD9-8031-4A49-920F-3E8EEEE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O produto já gera evidências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5611E-D524-4F88-8725-CB986601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8B52F-2C80-43DE-A136-9829BFC5D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54e4f1d214b3d"/>
          <a:stretch xmlns:a="http://schemas.openxmlformats.org/drawingml/2006/main"/>
        </p:blipFill>
        <p:spPr>
          <a:xfrm xmlns:a="http://schemas.openxmlformats.org/drawingml/2006/main">
            <a:off x="853994" y="1476375"/>
            <a:ext cx="6578761" cy="4048125"/>
          </a:xfrm>
          <a:prstGeom xmlns:a="http://schemas.openxmlformats.org/drawingml/2006/main" prst="roundRect">
            <a:avLst>
              <a:gd name="adj" fmla="val 2824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7D136-BC64-4261-8386-670461D40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0c7cffcf44465"/>
          <a:stretch xmlns:a="http://schemas.openxmlformats.org/drawingml/2006/main"/>
        </p:blipFill>
        <p:spPr>
          <a:xfrm xmlns:a="http://schemas.openxmlformats.org/drawingml/2006/main">
            <a:off x="8635288" y="1524000"/>
            <a:ext cx="2065174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3F347-FAE5-488E-8540-8DD45C3A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06"/>
          </a:bodyPr>
          <a:lstStyle xmlns:a="http://schemas.openxmlformats.org/drawingml/2006/main">
            <a:def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 painel acompanha a evolução mensal e permite levar os dados para fora da plataforma.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D2170-1B43-4B25-B4BD-530E27E1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333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72B31-743C-4C94-A4C9-AF5E7E9F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8387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E62B8"/>
                </a:solidFill>
                <a:latin typeface="Arial"/>
                <a:ea typeface="Arial"/>
                <a:cs typeface="Arial"/>
              </a:rPr>
              <a:t>8 vagas demonstrativas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A66DB-E9EB-4DBF-93F5-73F61567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81625"/>
            <a:ext cx="3333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E6F7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ED284-A26C-4CC1-A4EF-9401300B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5782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31 candidaturas no banco</a:t>
            </a:r>
          </a:p>
        </p:txBody>
      </p:sp>
    </p:spTree>
    <p:extLst>
      <p:ext uri="{BB962C8B-B14F-4D97-AF65-F5344CB8AC3E}">
        <p14:creationId xmlns:p14="http://schemas.microsoft.com/office/powerpoint/2010/main" val="1099673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D87F0-8DBE-4ABF-9226-9879BD4F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PARCERIA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27B8F-ADB3-409D-A870-C85C0318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 i="0">
                <a:solidFill>
                  <a:srgbClr val="12304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2304D"/>
                </a:solidFill>
                <a:latin typeface="Arial"/>
                <a:ea typeface="Arial"/>
                <a:cs typeface="Arial"/>
              </a:rPr>
              <a:t>Um piloto simples para começar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A9741-4287-4392-895E-4014C2EC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35F9C-F7C1-4091-86B0-B85595C7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61738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61738C"/>
                </a:solidFill>
                <a:latin typeface="Arial"/>
                <a:ea typeface="Arial"/>
                <a:cs typeface="Arial"/>
              </a:rPr>
              <a:t>A empresa entra com uma oportunidade real e uma pessoa responsável pelo teste.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EB125-E2EC-4444-B508-BF57E44E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3336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F71E9-6D3B-4C32-B655-8FDF0AB1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9825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E62B8"/>
                </a:solidFill>
                <a:latin typeface="Arial"/>
                <a:ea typeface="Arial"/>
                <a:cs typeface="Arial"/>
              </a:rPr>
              <a:t>Segurança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1AE0F-9565-4CBB-B7E7-156FAE3C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Acesso por perfil e dados protegidos por autenticação.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CAFBF-98ED-4DC4-B62F-296BE0E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33625"/>
            <a:ext cx="23336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E6F7F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048A1-EBAA-4D89-9DCC-1F2C0DB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09825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9A9C"/>
                </a:solidFill>
                <a:latin typeface="Arial"/>
                <a:ea typeface="Arial"/>
                <a:cs typeface="Arial"/>
              </a:rPr>
              <a:t>Piloto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FA475-E04A-41E1-85BA-901B48F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1 responsável de RH e 2 semanas para testar com vagas reais.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69790-36EF-4C71-9E29-0EAD7174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3336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D3"/>
          </a:solidFill>
          <a:ln xmlns:a="http://schemas.openxmlformats.org/drawingml/2006/main" w="9525">
            <a:solidFill>
              <a:srgbClr val="FFF3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23998-4FB3-4639-8A4F-34D02513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9825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9C6C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9C6C00"/>
                </a:solidFill>
                <a:latin typeface="Arial"/>
                <a:ea typeface="Arial"/>
                <a:cs typeface="Arial"/>
              </a:rPr>
              <a:t>Próximo ciclo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E462B-E391-43BA-866F-BCF278A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682"/>
          </a:bodyPr>
          <a:lstStyle xmlns:a="http://schemas.openxmlformats.org/drawingml/2006/main">
            <a:def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Integração com a instituição, currículo automático e avaliação do estágio.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5BA5C-11C5-420B-90BF-F5E5531C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 i="0">
                <a:solidFill>
                  <a:srgbClr val="1E62B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62B8"/>
                </a:solidFill>
                <a:latin typeface="Arial"/>
                <a:ea typeface="Arial"/>
                <a:cs typeface="Arial"/>
              </a:rPr>
              <a:t>Nosso pedido: indicar vagas reais e um contato de RH para o piloto.</a:t>
            </a:r>
          </a:p>
        </p:txBody>
      </p:sp>
    </p:spTree>
    <p:extLst>
      <p:ext uri="{BB962C8B-B14F-4D97-AF65-F5344CB8AC3E}">
        <p14:creationId xmlns:p14="http://schemas.microsoft.com/office/powerpoint/2010/main" val="1153684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F8FC9-9EFA-4056-9EBB-7FC6B2C5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73D7D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3D7D4"/>
                </a:solidFill>
                <a:latin typeface="Arial"/>
                <a:ea typeface="Arial"/>
                <a:cs typeface="Arial"/>
              </a:rPr>
              <a:t>CONECTA VAGAS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E658A-5A68-4286-BC1A-2D0D6DF9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clareza para quem procura.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agilidade para quem contrata.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9C5D5-89ED-4E60-97A1-2B912D60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D7E9F7"/>
                </a:solidFill>
                <a:latin typeface="Arial"/>
                <a:ea typeface="Arial"/>
                <a:cs typeface="Arial"/>
              </a:rPr>
              <a:t>Vamos testar essa conexão com oportunidades reais?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D7466-A0F6-4CBA-95B5-3D5D20F9C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2c05c608a41c5"/>
          <a:srcRect xmlns:a="http://schemas.openxmlformats.org/drawingml/2006/main" l="24000" t="40000" r="24000" b="35000"/>
          <a:stretch xmlns:a="http://schemas.openxmlformats.org/drawingml/2006/main"/>
        </p:blipFill>
        <p:spPr>
          <a:xfrm xmlns:a="http://schemas.openxmlformats.org/drawingml/2006/main">
            <a:off x="9525000" y="200025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27594-63B9-4CC4-A311-8BF5349D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D7E9F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7E9F7"/>
                </a:solidFill>
                <a:latin typeface="Arial"/>
                <a:ea typeface="Arial"/>
                <a:cs typeface="Arial"/>
              </a:rPr>
              <a:t>Obrigada</a:t>
            </a:r>
          </a:p>
        </p:txBody>
      </p:sp>
    </p:spTree>
    <p:extLst>
      <p:ext uri="{BB962C8B-B14F-4D97-AF65-F5344CB8AC3E}">
        <p14:creationId xmlns:p14="http://schemas.microsoft.com/office/powerpoint/2010/main" val="94219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2026-10-24T02:21:24.8900000Z</dcterms:created>
  <dcterms:modified xsi:type="dcterms:W3CDTF">2026-10-24T02:21:24.8900000Z</dcterms:modified>
</coreProperties>
</file>